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A Function Crossing Zero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f(x) = x^3 - x - 2</c:v>
                </c:pt>
              </c:strCache>
            </c:strRef>
          </c:tx>
          <c:spPr>
            <a:solidFill>
              <a:srgbClr val="4338CA"/>
            </a:solidFill>
            <a:ln w="31750" cap="flat">
              <a:solidFill>
                <a:srgbClr val="4338C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338CA"/>
              </a:solidFill>
              <a:ln w="9525" cap="flat">
                <a:solidFill>
                  <a:srgbClr val="4338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Sheet1!$A$2:$A$62</c:f>
              <c:multiLvlStrCache>
                <c:ptCount val="61"/>
                <c:lvl>
                  <c:pt idx="0">
                    <c:v>0.5</c:v>
                  </c:pt>
                  <c:pt idx="1">
                    <c:v>0.537</c:v>
                  </c:pt>
                  <c:pt idx="2">
                    <c:v>0.573</c:v>
                  </c:pt>
                  <c:pt idx="3">
                    <c:v>0.61</c:v>
                  </c:pt>
                  <c:pt idx="4">
                    <c:v>0.647</c:v>
                  </c:pt>
                  <c:pt idx="5">
                    <c:v>0.683</c:v>
                  </c:pt>
                  <c:pt idx="6">
                    <c:v>0.72</c:v>
                  </c:pt>
                  <c:pt idx="7">
                    <c:v>0.757</c:v>
                  </c:pt>
                  <c:pt idx="8">
                    <c:v>0.793</c:v>
                  </c:pt>
                  <c:pt idx="9">
                    <c:v>0.83</c:v>
                  </c:pt>
                  <c:pt idx="10">
                    <c:v>0.867</c:v>
                  </c:pt>
                  <c:pt idx="11">
                    <c:v>0.903</c:v>
                  </c:pt>
                  <c:pt idx="12">
                    <c:v>0.94</c:v>
                  </c:pt>
                  <c:pt idx="13">
                    <c:v>0.977</c:v>
                  </c:pt>
                  <c:pt idx="14">
                    <c:v>1.013</c:v>
                  </c:pt>
                  <c:pt idx="15">
                    <c:v>1.05</c:v>
                  </c:pt>
                  <c:pt idx="16">
                    <c:v>1.087</c:v>
                  </c:pt>
                  <c:pt idx="17">
                    <c:v>1.123</c:v>
                  </c:pt>
                  <c:pt idx="18">
                    <c:v>1.16</c:v>
                  </c:pt>
                  <c:pt idx="19">
                    <c:v>1.197</c:v>
                  </c:pt>
                  <c:pt idx="20">
                    <c:v>1.233</c:v>
                  </c:pt>
                  <c:pt idx="21">
                    <c:v>1.27</c:v>
                  </c:pt>
                  <c:pt idx="22">
                    <c:v>1.307</c:v>
                  </c:pt>
                  <c:pt idx="23">
                    <c:v>1.343</c:v>
                  </c:pt>
                  <c:pt idx="24">
                    <c:v>1.38</c:v>
                  </c:pt>
                  <c:pt idx="25">
                    <c:v>1.417</c:v>
                  </c:pt>
                  <c:pt idx="26">
                    <c:v>1.453</c:v>
                  </c:pt>
                  <c:pt idx="27">
                    <c:v>1.49</c:v>
                  </c:pt>
                  <c:pt idx="28">
                    <c:v>1.527</c:v>
                  </c:pt>
                  <c:pt idx="29">
                    <c:v>1.563</c:v>
                  </c:pt>
                  <c:pt idx="30">
                    <c:v>1.6</c:v>
                  </c:pt>
                  <c:pt idx="31">
                    <c:v>1.637</c:v>
                  </c:pt>
                  <c:pt idx="32">
                    <c:v>1.673</c:v>
                  </c:pt>
                  <c:pt idx="33">
                    <c:v>1.71</c:v>
                  </c:pt>
                  <c:pt idx="34">
                    <c:v>1.747</c:v>
                  </c:pt>
                  <c:pt idx="35">
                    <c:v>1.783</c:v>
                  </c:pt>
                  <c:pt idx="36">
                    <c:v>1.82</c:v>
                  </c:pt>
                  <c:pt idx="37">
                    <c:v>1.857</c:v>
                  </c:pt>
                  <c:pt idx="38">
                    <c:v>1.893</c:v>
                  </c:pt>
                  <c:pt idx="39">
                    <c:v>1.93</c:v>
                  </c:pt>
                  <c:pt idx="40">
                    <c:v>1.967</c:v>
                  </c:pt>
                  <c:pt idx="41">
                    <c:v>2.003</c:v>
                  </c:pt>
                  <c:pt idx="42">
                    <c:v>2.04</c:v>
                  </c:pt>
                  <c:pt idx="43">
                    <c:v>2.077</c:v>
                  </c:pt>
                  <c:pt idx="44">
                    <c:v>2.113</c:v>
                  </c:pt>
                  <c:pt idx="45">
                    <c:v>2.15</c:v>
                  </c:pt>
                  <c:pt idx="46">
                    <c:v>2.187</c:v>
                  </c:pt>
                  <c:pt idx="47">
                    <c:v>2.223</c:v>
                  </c:pt>
                  <c:pt idx="48">
                    <c:v>2.26</c:v>
                  </c:pt>
                  <c:pt idx="49">
                    <c:v>2.297</c:v>
                  </c:pt>
                  <c:pt idx="50">
                    <c:v>2.333</c:v>
                  </c:pt>
                  <c:pt idx="51">
                    <c:v>2.37</c:v>
                  </c:pt>
                  <c:pt idx="52">
                    <c:v>2.407</c:v>
                  </c:pt>
                  <c:pt idx="53">
                    <c:v>2.443</c:v>
                  </c:pt>
                  <c:pt idx="54">
                    <c:v>2.48</c:v>
                  </c:pt>
                  <c:pt idx="55">
                    <c:v>2.517</c:v>
                  </c:pt>
                  <c:pt idx="56">
                    <c:v>2.553</c:v>
                  </c:pt>
                  <c:pt idx="57">
                    <c:v>2.59</c:v>
                  </c:pt>
                  <c:pt idx="58">
                    <c:v>2.627</c:v>
                  </c:pt>
                  <c:pt idx="59">
                    <c:v>2.663</c:v>
                  </c:pt>
                  <c:pt idx="60">
                    <c:v>2.7</c:v>
                  </c:pt>
                </c:lvl>
              </c:multiLvlStrCache>
            </c:multiLvlStrRef>
          </c:cat>
          <c:val>
            <c:numRef>
              <c:f>Sheet1!$B$2:$B$62</c:f>
              <c:numCache>
                <c:formatCode>General</c:formatCode>
                <c:ptCount val="61"/>
                <c:pt idx="0">
                  <c:v>-2.375</c:v>
                </c:pt>
                <c:pt idx="1">
                  <c:v>-2.382</c:v>
                </c:pt>
                <c:pt idx="2">
                  <c:v>-2.385</c:v>
                </c:pt>
                <c:pt idx="3">
                  <c:v>-2.383</c:v>
                </c:pt>
                <c:pt idx="4">
                  <c:v>-2.376</c:v>
                </c:pt>
                <c:pt idx="5">
                  <c:v>-2.364</c:v>
                </c:pt>
                <c:pt idx="6">
                  <c:v>-2.347</c:v>
                </c:pt>
                <c:pt idx="7">
                  <c:v>-2.323</c:v>
                </c:pt>
                <c:pt idx="8">
                  <c:v>-2.294</c:v>
                </c:pt>
                <c:pt idx="9">
                  <c:v>-2.258</c:v>
                </c:pt>
                <c:pt idx="10">
                  <c:v>-2.216</c:v>
                </c:pt>
                <c:pt idx="11">
                  <c:v>-2.166</c:v>
                </c:pt>
                <c:pt idx="12">
                  <c:v>-2.109</c:v>
                </c:pt>
                <c:pt idx="13">
                  <c:v>-2.045</c:v>
                </c:pt>
                <c:pt idx="14">
                  <c:v>-1.973</c:v>
                </c:pt>
                <c:pt idx="15">
                  <c:v>-1.892</c:v>
                </c:pt>
                <c:pt idx="16">
                  <c:v>-1.803</c:v>
                </c:pt>
                <c:pt idx="17">
                  <c:v>-1.706</c:v>
                </c:pt>
                <c:pt idx="18">
                  <c:v>-1.599</c:v>
                </c:pt>
                <c:pt idx="19">
                  <c:v>-1.483</c:v>
                </c:pt>
                <c:pt idx="20">
                  <c:v>-1.357</c:v>
                </c:pt>
                <c:pt idx="21">
                  <c:v>-1.222</c:v>
                </c:pt>
                <c:pt idx="22">
                  <c:v>-1.076</c:v>
                </c:pt>
                <c:pt idx="23">
                  <c:v>-0.919</c:v>
                </c:pt>
                <c:pt idx="24">
                  <c:v>-0.752</c:v>
                </c:pt>
                <c:pt idx="25">
                  <c:v>-0.573</c:v>
                </c:pt>
                <c:pt idx="26">
                  <c:v>-0.384</c:v>
                </c:pt>
                <c:pt idx="27">
                  <c:v>-0.182</c:v>
                </c:pt>
                <c:pt idx="28">
                  <c:v>0.032</c:v>
                </c:pt>
                <c:pt idx="29">
                  <c:v>0.257</c:v>
                </c:pt>
                <c:pt idx="30">
                  <c:v>0.496</c:v>
                </c:pt>
                <c:pt idx="31">
                  <c:v>0.747</c:v>
                </c:pt>
                <c:pt idx="32">
                  <c:v>1.012</c:v>
                </c:pt>
                <c:pt idx="33">
                  <c:v>1.29</c:v>
                </c:pt>
                <c:pt idx="34">
                  <c:v>1.582</c:v>
                </c:pt>
                <c:pt idx="35">
                  <c:v>1.888</c:v>
                </c:pt>
                <c:pt idx="36">
                  <c:v>2.209</c:v>
                </c:pt>
                <c:pt idx="37">
                  <c:v>2.544</c:v>
                </c:pt>
                <c:pt idx="38">
                  <c:v>2.894</c:v>
                </c:pt>
                <c:pt idx="39">
                  <c:v>3.259</c:v>
                </c:pt>
                <c:pt idx="40">
                  <c:v>3.64</c:v>
                </c:pt>
                <c:pt idx="41">
                  <c:v>4.037</c:v>
                </c:pt>
                <c:pt idx="42">
                  <c:v>4.45</c:v>
                </c:pt>
                <c:pt idx="43">
                  <c:v>4.879</c:v>
                </c:pt>
                <c:pt idx="44">
                  <c:v>5.325</c:v>
                </c:pt>
                <c:pt idx="45">
                  <c:v>5.788</c:v>
                </c:pt>
                <c:pt idx="46">
                  <c:v>6.269</c:v>
                </c:pt>
                <c:pt idx="47">
                  <c:v>6.767</c:v>
                </c:pt>
                <c:pt idx="48">
                  <c:v>7.283</c:v>
                </c:pt>
                <c:pt idx="49">
                  <c:v>7.818</c:v>
                </c:pt>
                <c:pt idx="50">
                  <c:v>8.37</c:v>
                </c:pt>
                <c:pt idx="51">
                  <c:v>8.942</c:v>
                </c:pt>
                <c:pt idx="52">
                  <c:v>9.533</c:v>
                </c:pt>
                <c:pt idx="53">
                  <c:v>10.143</c:v>
                </c:pt>
                <c:pt idx="54">
                  <c:v>10.773</c:v>
                </c:pt>
                <c:pt idx="55">
                  <c:v>11.423</c:v>
                </c:pt>
                <c:pt idx="56">
                  <c:v>12.093</c:v>
                </c:pt>
                <c:pt idx="57">
                  <c:v>12.784</c:v>
                </c:pt>
                <c:pt idx="58">
                  <c:v>13.496</c:v>
                </c:pt>
                <c:pt idx="59">
                  <c:v>14.229</c:v>
                </c:pt>
                <c:pt idx="60">
                  <c:v>14.983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x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f(x)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Error Shrinks Each Iteration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0.000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0.018167</c:v>
                </c:pt>
                <c:pt idx="1">
                  <c:v>0.002565</c:v>
                </c:pt>
                <c:pt idx="2">
                  <c:v>0.000361</c:v>
                </c:pt>
                <c:pt idx="3">
                  <c:v>0.000051</c:v>
                </c:pt>
                <c:pt idx="4">
                  <c:v>0.000007</c:v>
                </c:pt>
                <c:pt idx="5">
                  <c:v>0.000001</c:v>
                </c:pt>
              </c:numCache>
            </c:numRef>
          </c:val>
          <c:smooth val="0"/>
        </c:ser>
        <c:dLbls>
          <c:numFmt formatCode="0.00000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Iteration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Error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Iterations Needed for Same Accuracy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 to converge (tol = 1e-6)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 Point
Iteration</c:v>
                  </c:pt>
                  <c:pt idx="1">
                    <c:v>Newton–
Raphson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Iterations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4338C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312E8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METHODS  ·  GROUP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Point Iteration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Newton–Raphson Method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nonlinear equations f(x) = 0 — from mathematical theory to a live, interactive web application.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9875520" cy="0"/>
          </a:xfrm>
          <a:prstGeom prst="line">
            <a:avLst/>
          </a:prstGeom>
          <a:noFill/>
          <a:ln w="12700">
            <a:solidFill>
              <a:srgbClr val="4C4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5120640"/>
            <a:ext cx="118872" cy="11887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5029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53218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98064" y="512064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5029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16352" y="53218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Iteration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512064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974336" y="5029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53218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&amp; Comparison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48272" y="5120640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5029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53218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23376" y="5120640"/>
            <a:ext cx="118872" cy="11887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8924544" y="5029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41664" y="5321808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Deployment</a:t>
            </a:r>
            <a:endParaRPr lang="en-US" sz="900" dirty="0"/>
          </a:p>
        </p:txBody>
      </p:sp>
      <p:pic>
        <p:nvPicPr>
          <p:cNvPr id="23" name="Image 0" descr="icons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— One Equal Part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5" name="Image 0" descr="icons_target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7520" y="194767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7240" y="2386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root-finding problem, two strategies, real-world use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icons_repeat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659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194767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26280" y="2386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Iteration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Theory, worked simulation, when it fails to converge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icons_zap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96596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0" y="194767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275320" y="238658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&amp; Comparison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697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Derivation, worked simulation, head-to-head comparison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age 3" descr="icons_cod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017520" y="368503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777240" y="41239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434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code, safe user input, testing &amp; robustness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5204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5" name="Image 4" descr="icons_glob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0332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766560" y="368503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526280" y="41239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&amp; Deployment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434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walkthrough, architecture, free hosting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520440"/>
            <a:ext cx="3520440" cy="1481328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2700">
            <a:solidFill>
              <a:srgbClr val="1E1B4B"/>
            </a:solidFill>
            <a:prstDash val="solid"/>
          </a:ln>
        </p:spPr>
      </p:sp>
      <p:pic>
        <p:nvPicPr>
          <p:cNvPr id="30" name="Image 5" descr="icons_award_indi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70332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515600" y="368503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275320" y="41239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434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insights — one from each member — and thank you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INTRODUCTION  ·  PART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Root-Finding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function f(x), find a value r such that: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f(r) = 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3319272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729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real equations have no algebraic (closed-form) solution — e.g. x</a:t>
            </a:r>
            <a:pPr indent="0" marL="0">
              <a:lnSpc>
                <a:spcPts val="1600"/>
              </a:lnSpc>
              <a:buNone/>
            </a:pPr>
            <a:r>
              <a:rPr lang="en-US" sz="8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x − 2 = 0, cos(x) = x, e</a:t>
            </a:r>
            <a:pPr indent="0" marL="0">
              <a:lnSpc>
                <a:spcPts val="1600"/>
              </a:lnSpc>
              <a:buNone/>
            </a:pPr>
            <a:r>
              <a:rPr lang="en-US" sz="8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3x.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069080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2277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physics, economics, and machine learning all reduce to solving such equations.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818888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72584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/ iterative methods build a sequence x</a:t>
            </a:r>
            <a:pPr indent="0" marL="0">
              <a:lnSpc>
                <a:spcPts val="1600"/>
              </a:lnSpc>
              <a:buNone/>
            </a:pPr>
            <a:r>
              <a:rPr lang="en-US" sz="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</a:t>
            </a:r>
            <a:pPr indent="0" marL="0">
              <a:lnSpc>
                <a:spcPts val="1600"/>
              </a:lnSpc>
              <a:buNone/>
            </a:pPr>
            <a:r>
              <a:rPr lang="en-US" sz="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</a:t>
            </a:r>
            <a:pPr indent="0" marL="0">
              <a:lnSpc>
                <a:spcPts val="1600"/>
              </a:lnSpc>
              <a:buNone/>
            </a:pPr>
            <a:r>
              <a:rPr lang="en-US" sz="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… that converges toward the true root 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568696"/>
            <a:ext cx="91440" cy="914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422392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implements and compares two classic iterative root-finders — then wraps them in a usable web app.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035040" y="160020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8686800" y="4892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≈ 1.5214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INTRODUCTION  ·  PART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Strategies, One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EF2FF"/>
          </a:solidFill>
          <a:ln w="15875">
            <a:solidFill>
              <a:srgbClr val="4338CA"/>
            </a:solidFill>
            <a:prstDash val="solid"/>
          </a:ln>
        </p:spPr>
      </p:sp>
      <p:pic>
        <p:nvPicPr>
          <p:cNvPr id="5" name="Image 0" descr="icons_repeat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116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Point Iteration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54480" y="235000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f(x)=0 into x = g(x)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68680" y="306324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apply 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g(x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995928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399592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implement, no derivative needed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928616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492861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depends on |g'(x)| near root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5" name="Image 1" descr="icons_zap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116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Newton–Raphson Method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7223760" y="235000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tangent line to zero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537960" y="3063240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30632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f(x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)/f'(x</a:t>
            </a:r>
            <a:pPr indent="0" marL="0">
              <a:buNone/>
            </a:pPr>
            <a:r>
              <a:rPr lang="en-US" sz="800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37960" y="3995928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20840" y="399592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derivative f'(x)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37960" y="4928616"/>
            <a:ext cx="4709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20840" y="492861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fast (quadratic) convergence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INTRODUCTION  ·  PART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in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Root-finding isn't just an academic exercise — it's the hidden engine behind everyday engineering and science problems.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0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load at which a beam or bridge reaches critical stress uses nonlinear equations solved iteratively.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450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&amp; 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 bond's yield-to-maturity or an internal rate of return requires solving for a root of a cash-flow equation.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450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75320" y="27889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many models (e.g. logistic regression) reduces to finding where a gradient equation equals zero.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965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analysis with diodes and transistors involves nonlinear I-V equations with no closed-form solution.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3931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0965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mechanics (Kepler's equation) and fluid dynamics rely on Newton-Raphson-style solvers.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39319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0965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75320" y="44348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Ray-surface intersection tests and inverse kinematics for animation solve nonlinear systems in real time.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·  FIXED POINT ITERATION  ·  PART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Fixed Point Idea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Rearrange.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f(x) = 0 as x = g(x).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Iterate.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guess x</a:t>
            </a:r>
            <a:pPr indent="0" marL="0">
              <a:buNone/>
            </a:pPr>
            <a:r>
              <a:rPr lang="en-US" sz="9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repeatedly compute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432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n+1</a:t>
            </a:r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g(x</a:t>
            </a:r>
            <a:pPr algn="ctr" indent="0" marL="0">
              <a:buNone/>
            </a:pPr>
            <a:r>
              <a:rPr lang="en-US" sz="1600" b="1" baseline="-4000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Stop.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|x</a:t>
            </a:r>
            <a:pPr indent="0" marL="0">
              <a:lnSpc>
                <a:spcPts val="2000"/>
              </a:lnSpc>
              <a:buNone/>
            </a:pPr>
            <a:r>
              <a:rPr lang="en-US" sz="9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x</a:t>
            </a:r>
            <a:pPr indent="0" marL="0">
              <a:lnSpc>
                <a:spcPts val="2000"/>
              </a:lnSpc>
              <a:buNone/>
            </a:pPr>
            <a:r>
              <a:rPr lang="en-US" sz="9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&lt; tolerance, or a maximum iteration count is reached.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0" name="Image 0" descr="icons_ale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2803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470916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condition: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iteration converges near root r only if |g'(r)| &lt; 1. Otherwise it may diverge or oscillate — the choice of g(x) matters!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6459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8105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Cobweb Diagram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66560" y="2240280"/>
            <a:ext cx="0" cy="33832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5623560"/>
            <a:ext cx="45720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5623560"/>
            <a:ext cx="4572000" cy="-3383280"/>
          </a:xfrm>
          <a:prstGeom prst="line">
            <a:avLst/>
          </a:prstGeom>
          <a:noFill/>
          <a:ln w="15875">
            <a:solidFill>
              <a:srgbClr val="94A3B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6766560" y="5623560"/>
            <a:ext cx="457200" cy="-909404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4714156"/>
            <a:ext cx="457200" cy="-37668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80960" y="4337469"/>
            <a:ext cx="457200" cy="-289042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38160" y="4048426"/>
            <a:ext cx="457200" cy="-243674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95360" y="3804752"/>
            <a:ext cx="457200" cy="-21468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3590071"/>
            <a:ext cx="457200" cy="-19408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509760" y="3395984"/>
            <a:ext cx="457200" cy="-17848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66960" y="3217503"/>
            <a:ext cx="457200" cy="-16612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24160" y="3051377"/>
            <a:ext cx="457200" cy="-156029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881360" y="2895348"/>
            <a:ext cx="457200" cy="-14757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52360" y="5116068"/>
            <a:ext cx="0" cy="-606296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52360" y="4509772"/>
            <a:ext cx="123444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86800" y="4202582"/>
            <a:ext cx="0" cy="-442746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686800" y="3759836"/>
            <a:ext cx="73152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418320" y="3661258"/>
            <a:ext cx="0" cy="-227832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418320" y="3433425"/>
            <a:ext cx="32004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38360" y="3424428"/>
            <a:ext cx="0" cy="-119402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738360" y="3305026"/>
            <a:ext cx="11430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852660" y="3339846"/>
            <a:ext cx="0" cy="-78987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852660" y="3260859"/>
            <a:ext cx="228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698480" y="2194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875520" y="274777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858000" y="37627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path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720840" y="567842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5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738360" y="567842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r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·  FIXED POINT ITERATION  ·  PART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Simulation: Solving x</a:t>
            </a:r>
            <a:pPr indent="0" marL="0">
              <a:buNone/>
            </a:pPr>
            <a:r>
              <a:rPr lang="en-US" sz="2000" b="1" baseline="300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x − 2 = 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Rearranged form: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g(x) = (x + 2)^(1/3)          </a:t>
            </a:r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guess x</a:t>
            </a:r>
            <a:pPr indent="0" marL="0">
              <a:buNone/>
            </a:pPr>
            <a:r>
              <a:rPr lang="en-US" sz="950" b="1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1.5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00200"/>
                <a:gridCol w="1737360"/>
                <a:gridCol w="1600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g(x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|x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1.518167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1.518167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1.520732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1.520732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1.521093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1.521093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1.521144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1.521144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1.521151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1.521151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1.521152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to root ≈ 1.521152 in 6 iterations (tolerance = 1e-6)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64592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·  FIXED POINT ITERATION  ·  PART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Choice of g(x) Can Break Convergence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equation x</a:t>
            </a:r>
            <a:pPr indent="0" marL="0">
              <a:lnSpc>
                <a:spcPts val="1700"/>
              </a:lnSpc>
              <a:buNone/>
            </a:pPr>
            <a:r>
              <a:rPr lang="en-US" sz="900" baseline="3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x − 2 = 0 can be rearranged into different g(x) forms. Only some of them converge.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6" name="Image 0" descr="icons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05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957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= (x + 2)^(1/3)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724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|g'(x)| &lt; 1 near the root, so each step shrinks the error. Reaches 6-decimal accuracy in 6 iterations.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1945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11" name="Image 1" descr="icons_aler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4505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23957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= x</a:t>
            </a:r>
            <a:pPr indent="0" marL="0">
              <a:buNone/>
            </a:pPr>
            <a:r>
              <a:rPr lang="en-US" sz="1000" b="1" baseline="30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995160" y="272491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92240" y="31546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|g'(x)| = |3x²| &gt; 1 near the root, so each step amplifies the error. xₙ shoots off to infinity instead of settling.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2" descr="icons_shield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7492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93776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lesson: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Python implementation caps the iteration count and flags non-convergence, rather than looping forever or crashing on an overflow.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·  NEWTON–RAPHSON  ·  PART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Derivation from the Tangent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point x</a:t>
            </a:r>
            <a:pPr indent="0" marL="0">
              <a:lnSpc>
                <a:spcPts val="1700"/>
              </a:lnSpc>
              <a:buNone/>
            </a:pPr>
            <a:r>
              <a:rPr lang="en-US" sz="9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approximate f(x) by its tangent line and find where that line crosses zero: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 ≈ f(x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f'(x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)(x − 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f(x) = 0  and solve for x: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 f(x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+ f'(x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)(x − x</a:t>
            </a:r>
            <a:pPr indent="0" marL="0">
              <a:buNone/>
            </a:pPr>
            <a:r>
              <a:rPr lang="en-US" sz="900" baseline="-40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1188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n+1</a:t>
            </a:r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x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f(x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/ f'(x</a:t>
            </a:r>
            <a:pPr algn="ctr" indent="0" marL="0">
              <a:buNone/>
            </a:pPr>
            <a:r>
              <a:rPr lang="en-US" sz="1300" b="1" baseline="-400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11" name="Image 0" descr="icons_ale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463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475488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must be differentiable, f'(x</a:t>
            </a:r>
            <a:pPr indent="0" marL="0">
              <a:lnSpc>
                <a:spcPts val="1500"/>
              </a:lnSpc>
              <a:buNone/>
            </a:pPr>
            <a:r>
              <a:rPr lang="en-US" sz="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≠ 0 at every step, and x</a:t>
            </a:r>
            <a:pPr indent="0" marL="0">
              <a:lnSpc>
                <a:spcPts val="1500"/>
              </a:lnSpc>
              <a:buNone/>
            </a:pPr>
            <a:r>
              <a:rPr lang="en-US" sz="800" baseline="-40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be reasonably close to the true root to guarantee convergence.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72200" y="16459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8105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Tangent-Line Geometry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2331720"/>
            <a:ext cx="0" cy="3291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4709160"/>
            <a:ext cx="4754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4609165"/>
            <a:ext cx="396240" cy="263533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71360" y="4872697"/>
            <a:ext cx="396240" cy="22556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67600" y="5098257"/>
            <a:ext cx="396240" cy="187587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63840" y="5285844"/>
            <a:ext cx="396240" cy="149614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60080" y="5435457"/>
            <a:ext cx="396240" cy="111641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56320" y="5547098"/>
            <a:ext cx="396240" cy="73668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2560" y="5620766"/>
            <a:ext cx="396240" cy="35695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48800" y="5656460"/>
            <a:ext cx="396240" cy="-2278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45040" y="5654182"/>
            <a:ext cx="396240" cy="-40251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241280" y="5613930"/>
            <a:ext cx="396240" cy="-78224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637520" y="5535706"/>
            <a:ext cx="396240" cy="-116197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033760" y="5419509"/>
            <a:ext cx="396240" cy="-15417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88352" y="5056183"/>
            <a:ext cx="2234794" cy="-347023"/>
          </a:xfrm>
          <a:prstGeom prst="line">
            <a:avLst/>
          </a:prstGeom>
          <a:noFill/>
          <a:ln w="25400">
            <a:solidFill>
              <a:srgbClr val="EA580C"/>
            </a:solidFill>
            <a:prstDash val="dash"/>
          </a:ln>
        </p:spPr>
      </p:sp>
      <p:sp>
        <p:nvSpPr>
          <p:cNvPr id="30" name="Shape 27"/>
          <p:cNvSpPr/>
          <p:nvPr/>
        </p:nvSpPr>
        <p:spPr>
          <a:xfrm>
            <a:off x="7388352" y="5056183"/>
            <a:ext cx="0" cy="-347023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ot"/>
          </a:ln>
        </p:spPr>
      </p:sp>
      <p:sp>
        <p:nvSpPr>
          <p:cNvPr id="31" name="Text 28"/>
          <p:cNvSpPr/>
          <p:nvPr/>
        </p:nvSpPr>
        <p:spPr>
          <a:xfrm>
            <a:off x="7251192" y="476402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50" baseline="-4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165946" y="47640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50" b="1" baseline="-40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(next guess)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995160" y="4553263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at x₀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81360" y="499101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·  NEWTON–RAPHSON  ·  PART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Simulation: Solving x</a:t>
            </a:r>
            <a:pPr indent="0" marL="0">
              <a:buNone/>
            </a:pPr>
            <a:r>
              <a:rPr lang="en-US" sz="2000" b="1" baseline="300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− x − 2 = 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</a:t>
            </a:r>
            <a:pPr indent="0" marL="0">
              <a:buNone/>
            </a:pPr>
            <a:r>
              <a:rPr lang="en-US" sz="900" b="1" baseline="3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x − 2      f'(x) = 3x</a:t>
            </a:r>
            <a:pPr indent="0" marL="0">
              <a:buNone/>
            </a:pPr>
            <a:r>
              <a:rPr lang="en-US" sz="900" b="1" baseline="3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− 1      Initial guess x</a:t>
            </a:r>
            <a:pPr indent="0" marL="0">
              <a:buNone/>
            </a:pPr>
            <a:r>
              <a:rPr lang="en-US" sz="900" b="1" baseline="-40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1.5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55778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371600"/>
                <a:gridCol w="1280160"/>
                <a:gridCol w="1280160"/>
                <a:gridCol w="1143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f'(x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8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-0.125000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5.947202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5.943880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661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to root ≈ 1.521380 in only 3 iterations!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1148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793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close to the root, the number of correct digits roughly DOUBLES every iteration. Compare: Fixed Point Iteration needed 6 iterations for 6-digit accuracy; Newton-Raphson needed only 3.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00800" y="1645920"/>
          <a:ext cx="5212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·  NEWTON–RAPHSON  ·  PART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Point Iteration vs. Newton–Raphson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Point Iteration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Newton–Raphson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g(x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n+1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− f(x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)/f'(x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derivative?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speed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(much faster)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Convergence guarantee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if |g'(x)| &lt;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f'(x) ≠ 0, good 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to setup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choice of g(x)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initial guess x</a:t>
                      </a:r>
                      <a:pPr algn="ctr" indent="0" marL="0">
                        <a:buNone/>
                      </a:pPr>
                      <a:r>
                        <a:rPr lang="en-US" sz="1250" baseline="-40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implementation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simple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needs derivative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·  PYTHON IMPLEMENTATION  ·  PART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Algorithm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Iteration — 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fixed_point_iteration(g, x0, tol, max_iter):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xn = x0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range(max_iter):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x_next = g(xn)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= abs(x_next - xn)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error &lt; tol: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x_next, i+1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xn = x_next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xn, max_iter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1E293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60020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F0FDF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— Python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2402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newton_raphson(f, f_prime, x0, tol, max_iter):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xn = x0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range(max_iter):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fxn, fpxn = f(xn), f_prime(xn)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fpxn == 0: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ZeroDivisionError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x_next = xn - fxn / fpxn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abs(x_next - xn) &lt; tol: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x_next, i+1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xn = x_next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·  PYTHON IMPLEMENTATION  ·  PART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Accepting Any User Function Safely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SymPy to turn a typed string like "x**3 - x - 2" into a real callable Python function — and to compute derivatives automatically for Newton-Raphson.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223760" cy="365760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6766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sympy as sp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sp.Symbol('x')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parse_expr(text):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sp.parsing.sympy_parser.parse_expr(text)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    = parse_expr(user_input)  # 'x**3-x-2'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      = sp.lambdify(x, expr, 'numpy')  # numeric fn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f_prime = sp.diff(expr, x)          # auto derivative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fp_fn   = sp.lambdify(x, f_prime, 'numpy')</a:t>
            </a:r>
            <a:endParaRPr lang="en-US" sz="1250" dirty="0"/>
          </a:p>
        </p:txBody>
      </p:sp>
      <p:pic>
        <p:nvPicPr>
          <p:cNvPr id="7" name="Image 0" descr="icons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2286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22677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function the user types in</a:t>
            </a:r>
            <a:endParaRPr lang="en-US" sz="1150" dirty="0"/>
          </a:p>
        </p:txBody>
      </p:sp>
      <p:pic>
        <p:nvPicPr>
          <p:cNvPr id="9" name="Image 1" descr="icons_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154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0" y="313639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unsafe eval() — parsed via SymPy's parser</a:t>
            </a:r>
            <a:endParaRPr lang="en-US" sz="1150" dirty="0"/>
          </a:p>
        </p:txBody>
      </p:sp>
      <p:pic>
        <p:nvPicPr>
          <p:cNvPr id="11" name="Image 2" descr="icons_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0233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12480" y="400507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computed symbolically — always exact</a:t>
            </a:r>
            <a:endParaRPr lang="en-US" sz="1150" dirty="0"/>
          </a:p>
        </p:txBody>
      </p:sp>
      <p:pic>
        <p:nvPicPr>
          <p:cNvPr id="13" name="Image 3" descr="icons_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89204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12480" y="48737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parsed expression feeds both algorithms &amp; the plots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·  PYTHON IMPLEMENTATION  ·  PART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Robustness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implementation must handle bad input gracefully, not just the textbook case.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pic>
        <p:nvPicPr>
          <p:cNvPr id="6" name="Image 0" descr="icons_ale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3774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62072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 is zero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17296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f'(xₙ) = 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3520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before dividing — the app shows a clear error instead of crashing.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pic>
        <p:nvPicPr>
          <p:cNvPr id="11" name="Image 1" descr="icons_trenddown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3774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862072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convergence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317296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stays above tol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53712" y="3520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stops at max_iter and reports "did not converge" rather than hanging forever.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1488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16" name="Image 2" descr="icons_shield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3774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862072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g(x) choice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02752" y="317296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|g'(x)| ≥ 1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02752" y="352044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sequence is detected via a non-finite or exploding value and reported to the user.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/>
        </p:spPr>
      </p:sp>
      <p:sp>
        <p:nvSpPr>
          <p:cNvPr id="21" name="Text 16"/>
          <p:cNvSpPr/>
          <p:nvPr/>
        </p:nvSpPr>
        <p:spPr>
          <a:xfrm>
            <a:off x="822960" y="49377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fpxn == 0: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st.error("Derivative is zero — try a different x₀")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i == max_iter - 1 and error &gt;= tol: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st.warning("Did not converge within max_iter steps")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 ·  WEB APPLICATION  ·  PART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Script to Interactive Website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wrapped both algorithms in a Streamlit web app so any user — no coding required — can type a function, tune settings, and instantly see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1106424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95144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229514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2295144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221992"/>
            <a:ext cx="50292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2219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rootfinder-visualizer.streamlit.app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2743200" cy="3749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154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 Newton-Raphson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6576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 x**3 - x - 2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416052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605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x0 =  1.5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466344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=  1e-6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5166360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66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=  50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" y="58064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806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Algorithm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Converged to root ≈ 1.52138008 in 3 iterations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3108960"/>
          <a:ext cx="3566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005840"/>
                <a:gridCol w="100584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xn+1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315200" y="3108960"/>
            <a:ext cx="4160520" cy="283464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5236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Tangent-Line Convergence Plot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43800" y="370332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543800" y="5532120"/>
            <a:ext cx="3840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43800" y="5349240"/>
            <a:ext cx="384048" cy="230429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27848" y="5579669"/>
            <a:ext cx="384048" cy="17922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11896" y="5758891"/>
            <a:ext cx="384048" cy="128016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695944" y="5886907"/>
            <a:ext cx="384048" cy="7681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79992" y="5963717"/>
            <a:ext cx="384048" cy="25603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464040" y="5989320"/>
            <a:ext cx="384048" cy="-25603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48088" y="5963717"/>
            <a:ext cx="384048" cy="-7681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232136" y="5886907"/>
            <a:ext cx="384048" cy="-128016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616184" y="5758891"/>
            <a:ext cx="384048" cy="-17922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000232" y="5579669"/>
            <a:ext cx="384048" cy="-230429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 ·  WEB APPLICATION  ·  PART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App Is Put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2FF"/>
          </a:solidFill>
          <a:ln w="15875">
            <a:solidFill>
              <a:srgbClr val="4338CA"/>
            </a:solidFill>
            <a:prstDash val="solid"/>
          </a:ln>
        </p:spPr>
      </p:sp>
      <p:pic>
        <p:nvPicPr>
          <p:cNvPr id="5" name="Image 0" descr="icons_monitor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560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text, x0, tolerance, max iterations — entered in the browser sidebar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72968" y="3374136"/>
            <a:ext cx="201168" cy="201168"/>
          </a:xfrm>
          <a:prstGeom prst="chevron">
            <a:avLst/>
          </a:prstGeom>
          <a:solidFill>
            <a:srgbClr val="CBD5E1"/>
          </a:solidFill>
          <a:ln/>
        </p:spPr>
      </p:sp>
      <p:sp>
        <p:nvSpPr>
          <p:cNvPr id="9" name="Shape 6"/>
          <p:cNvSpPr/>
          <p:nvPr/>
        </p:nvSpPr>
        <p:spPr>
          <a:xfrm>
            <a:off x="3410712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10" name="Image 1" descr="icons_cpu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56032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Engine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93592" y="3611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expression, differentiates it, converts to a fast NumPy function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3374136"/>
            <a:ext cx="201168" cy="201168"/>
          </a:xfrm>
          <a:prstGeom prst="chevron">
            <a:avLst/>
          </a:prstGeom>
          <a:solidFill>
            <a:srgbClr val="CBD5E1"/>
          </a:solidFill>
          <a:ln/>
        </p:spPr>
      </p:sp>
      <p:sp>
        <p:nvSpPr>
          <p:cNvPr id="14" name="Shape 10"/>
          <p:cNvSpPr/>
          <p:nvPr/>
        </p:nvSpPr>
        <p:spPr>
          <a:xfrm>
            <a:off x="6272784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pic>
        <p:nvPicPr>
          <p:cNvPr id="15" name="Image 2" descr="icons_repeat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84" y="25603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9944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Core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55664" y="3611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Fixed Point Iteration or Newton–Raphson, logging every iteration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897112" y="3374136"/>
            <a:ext cx="201168" cy="201168"/>
          </a:xfrm>
          <a:prstGeom prst="chevron">
            <a:avLst/>
          </a:prstGeom>
          <a:solidFill>
            <a:srgbClr val="CBD5E1"/>
          </a:solidFill>
          <a:ln/>
        </p:spPr>
      </p:sp>
      <p:sp>
        <p:nvSpPr>
          <p:cNvPr id="19" name="Shape 14"/>
          <p:cNvSpPr/>
          <p:nvPr/>
        </p:nvSpPr>
        <p:spPr>
          <a:xfrm>
            <a:off x="9134856" y="228600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7ED"/>
          </a:solidFill>
          <a:ln w="15875">
            <a:solidFill>
              <a:srgbClr val="EA580C"/>
            </a:solidFill>
            <a:prstDash val="solid"/>
          </a:ln>
        </p:spPr>
      </p:sp>
      <p:pic>
        <p:nvPicPr>
          <p:cNvPr id="20" name="Image 3" descr="icons_glob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3556" y="256032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317736" y="3611880"/>
            <a:ext cx="2240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the iteration table + Plotly convergence graph back to the browser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Streamlit (UI framework) · SymPy (symbolic math) · NumPy (numeric evaluation) · Pandas (tables) · Plotly (interactive charts)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 ·  WEB APPLICATION  ·  PART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Deploying for Free — No Card Required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642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9933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public repo containing app.py + requirements.txt, and push with git.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054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Streamlit Cloud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834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share.streamlit.io and sign in with your GitHub account — free tier, no card.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741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3467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"New app"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6758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repo, branch (main), and entry file (app.py).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187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5171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installs requirements.txt automatically and builds the app in the cloud.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56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live link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53583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public URL like yourapp.streamlit.app — share it with anyone, anywhere.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691640"/>
            <a:ext cx="5303520" cy="4251960"/>
          </a:xfrm>
          <a:prstGeom prst="roundRect">
            <a:avLst>
              <a:gd name="adj" fmla="val 2151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pic>
        <p:nvPicPr>
          <p:cNvPr id="25" name="Image 0" descr="icons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3232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Streamlit Community Cloud?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629400" y="2587752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414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— no credit card ever requested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29400" y="3154680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0" y="30083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directly from a public GitHub repo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629400" y="3721608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35753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Auto-redeploys whenever you push new commits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629400" y="4288536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0" y="41422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HTTPS URL, ready to share instantly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629400" y="4855464"/>
            <a:ext cx="82296" cy="822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4709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Render.com free web service, Hugging Face Spaces — both also card-free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CONCLUSION — ONE INSIGHT FROM EACH MEMBER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EEF2FF"/>
          </a:solidFill>
          <a:ln w="15875">
            <a:solidFill>
              <a:srgbClr val="4338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950" dirty="0"/>
          </a:p>
        </p:txBody>
      </p:sp>
      <p:pic>
        <p:nvPicPr>
          <p:cNvPr id="6" name="Image 0" descr="icons_target_in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is universal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equations show up everywhere — engineering, finance, ML — and rarely have closed-form solutions.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43784" y="178308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5F3FF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26664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50" dirty="0"/>
          </a:p>
        </p:txBody>
      </p:sp>
      <p:pic>
        <p:nvPicPr>
          <p:cNvPr id="11" name="Image 1" descr="icons_repeat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2377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292608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Point is simple, but picky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026664" y="384048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derivative required, but convergence depends entirely on choosing a good g(x).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38928" y="178308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0FDFA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21808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950" dirty="0"/>
          </a:p>
        </p:txBody>
      </p:sp>
      <p:pic>
        <p:nvPicPr>
          <p:cNvPr id="16" name="Image 2" descr="icons_zap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3774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292608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Newton-Raphson is fast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21808" y="384048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convergence means far fewer iterations — when the derivative is available.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434072" y="178308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616952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950" dirty="0"/>
          </a:p>
        </p:txBody>
      </p:sp>
      <p:pic>
        <p:nvPicPr>
          <p:cNvPr id="21" name="Image 3" descr="icons_shield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23774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6952" y="292608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code matters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16952" y="384048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zero derivatives and non-convergence gracefully is as important as the core math.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729216" y="1783080"/>
            <a:ext cx="2121408" cy="4160520"/>
          </a:xfrm>
          <a:prstGeom prst="roundRect">
            <a:avLst>
              <a:gd name="adj" fmla="val 4310"/>
            </a:avLst>
          </a:prstGeom>
          <a:solidFill>
            <a:srgbClr val="FFF7ED"/>
          </a:solidFill>
          <a:ln w="15875">
            <a:solidFill>
              <a:srgbClr val="EA580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912096" y="20116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950" dirty="0"/>
          </a:p>
        </p:txBody>
      </p:sp>
      <p:pic>
        <p:nvPicPr>
          <p:cNvPr id="26" name="Image 4" descr="icons_glob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23774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912096" y="2926080"/>
            <a:ext cx="17556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becomes a real product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912096" y="384048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the math into a Python implementation and a free, live website anyone can use.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4338C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312E8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9525">
            <a:solidFill>
              <a:srgbClr val="4C4F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743200"/>
            <a:ext cx="100584" cy="100584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25146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251460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9525">
            <a:solidFill>
              <a:srgbClr val="4C4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429000"/>
            <a:ext cx="100584" cy="1005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200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 Iteration — Theory, Simulation &amp; Failure Modes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88620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9525">
            <a:solidFill>
              <a:srgbClr val="4C4F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114800"/>
            <a:ext cx="100584" cy="1005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298448" y="3886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60320" y="388620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— Theory, Simulation &amp; Comparison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57200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9525">
            <a:solidFill>
              <a:srgbClr val="4C4F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4800600"/>
            <a:ext cx="100584" cy="1005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8448" y="45720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0320" y="457200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&amp; Robustness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257800"/>
            <a:ext cx="7680960" cy="54864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 w="9525">
            <a:solidFill>
              <a:srgbClr val="4C4F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5486400"/>
            <a:ext cx="100584" cy="1005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1298448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560320" y="5257800"/>
            <a:ext cx="5806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Architecture &amp; Deployment</a:t>
            </a:r>
            <a:endParaRPr lang="en-US" sz="1150" dirty="0"/>
          </a:p>
        </p:txBody>
      </p:sp>
      <p:pic>
        <p:nvPicPr>
          <p:cNvPr id="26" name="Image 0" descr="icons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4937760"/>
            <a:ext cx="1463040" cy="1463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2026-08-04T04:23:22Z</dcterms:created>
  <dcterms:modified xsi:type="dcterms:W3CDTF">2026-08-04T04:23:22Z</dcterms:modified>
</cp:coreProperties>
</file>